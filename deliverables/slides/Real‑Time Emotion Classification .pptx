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8263"/>
  <p:notesSz cx="5148263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Emotion Classes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Happy</c:v>
                </c:pt>
                <c:pt idx="1">
                  <c:v>Sad</c:v>
                </c:pt>
                <c:pt idx="2">
                  <c:v>Angry</c:v>
                </c:pt>
                <c:pt idx="3">
                  <c:v>Fear</c:v>
                </c:pt>
                <c:pt idx="4">
                  <c:v>Surprise</c:v>
                </c:pt>
                <c:pt idx="5">
                  <c:v>Neutral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7-3E4C-B14C-2D44EA8D0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ln w="2540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0.5</c:v>
                </c:pt>
                <c:pt idx="1">
                  <c:v>0.57999999999999996</c:v>
                </c:pt>
                <c:pt idx="2">
                  <c:v>0.64</c:v>
                </c:pt>
                <c:pt idx="3">
                  <c:v>0.69</c:v>
                </c:pt>
                <c:pt idx="4">
                  <c:v>0.74</c:v>
                </c:pt>
                <c:pt idx="5">
                  <c:v>0.78</c:v>
                </c:pt>
                <c:pt idx="6">
                  <c:v>0.82</c:v>
                </c:pt>
                <c:pt idx="7">
                  <c:v>0.85</c:v>
                </c:pt>
                <c:pt idx="8">
                  <c:v>0.88</c:v>
                </c:pt>
                <c:pt idx="9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22-3A40-B698-FE0993C51C7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0.45</c:v>
                </c:pt>
                <c:pt idx="1">
                  <c:v>0.53</c:v>
                </c:pt>
                <c:pt idx="2">
                  <c:v>0.57999999999999996</c:v>
                </c:pt>
                <c:pt idx="3">
                  <c:v>0.62</c:v>
                </c:pt>
                <c:pt idx="4">
                  <c:v>0.66</c:v>
                </c:pt>
                <c:pt idx="5">
                  <c:v>0.7</c:v>
                </c:pt>
                <c:pt idx="6">
                  <c:v>0.73</c:v>
                </c:pt>
                <c:pt idx="7">
                  <c:v>0.76</c:v>
                </c:pt>
                <c:pt idx="8">
                  <c:v>0.78</c:v>
                </c:pt>
                <c:pt idx="9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22-3A40-B698-FE0993C51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91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8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8264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8" y="842552"/>
            <a:ext cx="6593681" cy="1792358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8" y="2704030"/>
            <a:ext cx="6593681" cy="1242971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61409"/>
            <a:ext cx="2057400" cy="274097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61409"/>
            <a:ext cx="3843665" cy="2740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61407"/>
            <a:ext cx="578317" cy="274097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2162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466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5406"/>
            <a:ext cx="7429500" cy="214153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21344"/>
            <a:ext cx="7429500" cy="1032037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071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8677"/>
            <a:ext cx="3658792" cy="2658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8677"/>
            <a:ext cx="3656408" cy="2658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7352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775"/>
            <a:ext cx="7429500" cy="11094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8677"/>
            <a:ext cx="3487337" cy="61850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7183"/>
            <a:ext cx="3658793" cy="2040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8676"/>
            <a:ext cx="3484952" cy="61850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7183"/>
            <a:ext cx="3656408" cy="2040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607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3890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8881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624"/>
            <a:ext cx="2892028" cy="1231052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911"/>
            <a:ext cx="4418407" cy="390251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8677"/>
            <a:ext cx="2892028" cy="265874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238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624"/>
            <a:ext cx="4450881" cy="123105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624"/>
            <a:ext cx="2750018" cy="388979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8677"/>
            <a:ext cx="4450883" cy="265874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4617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31488"/>
            <a:ext cx="7434266" cy="615085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5241"/>
            <a:ext cx="7434266" cy="2477125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846574"/>
            <a:ext cx="7433144" cy="5123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1550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2" y="457623"/>
            <a:ext cx="7429466" cy="257413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7769"/>
            <a:ext cx="7428344" cy="102965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5474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623"/>
            <a:ext cx="6977064" cy="2063231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3" y="2526505"/>
            <a:ext cx="6564224" cy="41210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5433"/>
            <a:ext cx="7429502" cy="1118156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804"/>
            <a:ext cx="457200" cy="4389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5649"/>
            <a:ext cx="457200" cy="4389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27149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2013"/>
            <a:ext cx="7429501" cy="1885621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6476"/>
            <a:ext cx="7428379" cy="856275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206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59" y="457623"/>
            <a:ext cx="7429499" cy="14300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7705"/>
            <a:ext cx="2397674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2531"/>
            <a:ext cx="2406551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10086"/>
            <a:ext cx="2388289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59" y="2524912"/>
            <a:ext cx="2396873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7705"/>
            <a:ext cx="2396226" cy="51482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2531"/>
            <a:ext cx="2396226" cy="182489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61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623"/>
            <a:ext cx="7429499" cy="14300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6506"/>
            <a:ext cx="2396430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2101"/>
            <a:ext cx="2396430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9103"/>
            <a:ext cx="2396430" cy="61395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6506"/>
            <a:ext cx="2400300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2101"/>
            <a:ext cx="2399205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9102"/>
            <a:ext cx="2400300" cy="60831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6505"/>
            <a:ext cx="2393056" cy="4325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2101"/>
            <a:ext cx="2396227" cy="1144058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9100"/>
            <a:ext cx="2396226" cy="6083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4637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450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623"/>
            <a:ext cx="1503758" cy="38897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623"/>
            <a:ext cx="5811443" cy="38897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6645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92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8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8264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59" y="464318"/>
            <a:ext cx="7429499" cy="11099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9" y="1688678"/>
            <a:ext cx="7429499" cy="2658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6544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6543"/>
            <a:ext cx="4679482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6542"/>
            <a:ext cx="578317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2631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home/oai/share/Course%20Work%20Artificial%20Neural%20Network.pdf#:~:text=,increase%20dataset%20imagers%20using%20synthetic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hyperlink" Target="file:///home/oai/share/Course%20Work%20Artificial%20Neural%20Network.pdf#:~:text=,increase%20dataset%20imagers%20using%20synthetic" TargetMode="External"/><Relationship Id="rId4" Type="http://schemas.openxmlformats.org/officeDocument/2006/relationships/hyperlink" Target="file:///home/oai/share/Course%20Work%20Artificial%20Neural%20Network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hyperlink" Target="file:///home/oai/share/Course%20Work%20Artificial%20Neural%20Network.pdf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#:~:text=,increase%20dataset%20imagers%20using%20syntheti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home/oai/share/Course%20Work%20Artificial%20Neural%20Network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#:~:text=duplicated%29,activation%20representing%20the%20emotion%20probabiliti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#:~:text=design%3A%20Approach%20Description%20Findings%20Hand%E2%80%91crafted,Converged%20faster%20and%20hyperparameter%20search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home/oai/share/Course%20Work%20Artificial%20Neural%20Network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home/oai/share/Course%20Work%20Artificial%20Neural%20Network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file:///home/oai/share/Course%20Work%20Artificial%20Neural%20Network.pdf#:~:text=To%20make%20a%20strong%20mobile,it%20permission%2C%20of%2015%2023" TargetMode="External"/><Relationship Id="rId3" Type="http://schemas.openxmlformats.org/officeDocument/2006/relationships/image" Target="../media/image6.png"/><Relationship Id="rId7" Type="http://schemas.openxmlformats.org/officeDocument/2006/relationships/hyperlink" Target="&#12304;453631216304712&#8224;L626-L739&#12305;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#:~:text=To%20make%20a%20strong%20mobile,it%20permission%2C%20of%2015%202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hyperlink" Target="file:///home/oai/share/Course%20Work%20Artificial%20Neural%20Network.pdf#:~:text=Aspect%20Generative%2FLLM%20models%20Traditional%20neural,edge%20hardware%20of%2022%2023" TargetMode="External"/><Relationship Id="rId4" Type="http://schemas.openxmlformats.org/officeDocument/2006/relationships/hyperlink" Target="&#12304;453631216304712&#8224;L1000-L1114&#12305;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Course%20Work%20Artificial%20Neural%20Network.pdf#:~:text=Even%20though%20the%20main%20task,hypothetica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hyperlink" Target="file:///home/oai/share/Course%20Work%20Artificial%20Neural%20Network.pdf#:~:text=Aspect%20Generative%2FLLM%20models%20Traditional%20neural,edge%20hardware%20of%2022%202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hyperlink" Target="file:///home/oai/share/Course%20Work%20Artificial%20Neural%20Network.pdf#:~:text=Aspect%20Generative%2FLLM%20models%20Traditional%20neural,edge%20hardware%20of%2022%2023" TargetMode="External"/><Relationship Id="rId4" Type="http://schemas.openxmlformats.org/officeDocument/2006/relationships/hyperlink" Target="file:///home/oai/share/Course%20Work%20Artificial%20Neural%20Network.pdf#:~:text=Even%20though%20the%20main%20task,hypothetic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8640"/>
            <a:ext cx="36576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3864"/>
                </a:solidFill>
              </a:rPr>
              <a:t>Real‑Time Emotion Classification</a:t>
            </a:r>
            <a:endParaRPr lang="en-US" sz="3600" dirty="0"/>
          </a:p>
          <a:p>
            <a:pPr marL="0" indent="0" algn="l">
              <a:buNone/>
            </a:pPr>
            <a:r>
              <a:rPr lang="en-US" sz="2400" i="1" dirty="0">
                <a:solidFill>
                  <a:srgbClr val="203864"/>
                </a:solidFill>
              </a:rPr>
              <a:t>using Artificial Neural Networks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719303"/>
            <a:ext cx="5029200" cy="880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44D6F"/>
                </a:solidFill>
                <a:effectLst/>
                <a:latin typeface="Times New Roman" panose="02020603050405020304" pitchFamily="18" charset="0"/>
              </a:rPr>
              <a:t>COURSE WORK: Artificial Neural Network</a:t>
            </a:r>
          </a:p>
          <a:p>
            <a:r>
              <a:rPr lang="en-US" sz="1400" dirty="0">
                <a:solidFill>
                  <a:srgbClr val="144D6F"/>
                </a:solidFill>
                <a:effectLst/>
                <a:latin typeface="Times New Roman" panose="02020603050405020304" pitchFamily="18" charset="0"/>
              </a:rPr>
              <a:t>M.Sc. Data Science, Coventry University UK (2024.2 Batch)</a:t>
            </a:r>
          </a:p>
          <a:p>
            <a:r>
              <a:rPr lang="en-US" sz="1400" dirty="0">
                <a:solidFill>
                  <a:srgbClr val="144D6F"/>
                </a:solidFill>
                <a:effectLst/>
                <a:latin typeface="Times New Roman" panose="02020603050405020304" pitchFamily="18" charset="0"/>
              </a:rPr>
              <a:t>Lahiru </a:t>
            </a:r>
            <a:r>
              <a:rPr lang="en-US" sz="1400" dirty="0" err="1">
                <a:solidFill>
                  <a:srgbClr val="144D6F"/>
                </a:solidFill>
                <a:effectLst/>
                <a:latin typeface="Times New Roman" panose="02020603050405020304" pitchFamily="18" charset="0"/>
              </a:rPr>
              <a:t>Munasinghe</a:t>
            </a:r>
            <a:endParaRPr lang="en-US" sz="1400" dirty="0">
              <a:solidFill>
                <a:srgbClr val="144D6F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144D6F"/>
                </a:solidFill>
                <a:effectLst/>
                <a:latin typeface="Times New Roman" panose="02020603050405020304" pitchFamily="18" charset="0"/>
              </a:rPr>
              <a:t>Index: COMScDS242P-001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4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Introduction &amp; Objectives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• Design, train and deploy a neural network for real‑time emotion recognition
</a:t>
            </a:r>
            <a:r>
              <a:rPr lang="en-US" sz="1400" dirty="0">
                <a:solidFill>
                  <a:srgbClr val="203864"/>
                </a:solidFill>
              </a:rPr>
              <a:t>• Leverage 43,756 grayscale images across six emotion categories
• Applications: mental health, robotics, interactive agents, user feedback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4"/>
              </a:rPr>
              <a:t>[2]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5"/>
              </a:rPr>
              <a:t>[3]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Dataset Preparation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97280"/>
            <a:ext cx="457200" cy="4572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0" y="109728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3864"/>
                </a:solidFill>
              </a:rPr>
              <a:t>43,756 grayscale face images
</a:t>
            </a:r>
            <a:r>
              <a:rPr lang="en-US" sz="1200" dirty="0">
                <a:solidFill>
                  <a:srgbClr val="203864"/>
                </a:solidFill>
              </a:rPr>
              <a:t>6 emotion categories with significant class imbalance (Happy ≈ 30%)
Images resized to 48×48 &amp; channels duplicated to RGB
Normalization &amp; augmentation for balancing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5"/>
              </a:rPr>
              <a:t>[4]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Solution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D9E1F2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EDA &amp; Class Imbalance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554480" y="1554480"/>
            <a:ext cx="228600" cy="274320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8308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B4C7E7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Augmentation &amp; Diffusion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554480"/>
            <a:ext cx="228600" cy="274320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D9E1F2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15468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Merge &amp; Split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0" y="1554480"/>
            <a:ext cx="228600" cy="274320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3484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B4C7E7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Transfer Learning &amp; Fine‑tune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32120" y="1554480"/>
            <a:ext cx="228600" cy="274320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76072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D9E1F2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0644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Explainability &amp; Export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228600" cy="274320"/>
          </a:xfrm>
          <a:prstGeom prst="rightArrow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086600" y="137160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B4C7E7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0" y="1371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Real‑time Inference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Sequential pipeline from data exploration to deployment.
</a:t>
            </a:r>
            <a:r>
              <a:rPr lang="en-US" sz="1000" dirty="0">
                <a:solidFill>
                  <a:srgbClr val="203864"/>
                </a:solidFill>
              </a:rPr>
              <a:t>Balancing via augmentation &amp; diffusion improves minority class representation.
Transfer learning with fine‑tuning yields high accuracy and F1 scores.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[5]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4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Network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731520"/>
          </a:xfrm>
          <a:prstGeom prst="rect">
            <a:avLst/>
          </a:prstGeom>
          <a:solidFill>
            <a:srgbClr val="D9E1F2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48×48×1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554480" y="1508760"/>
            <a:ext cx="228600" cy="274320"/>
          </a:xfrm>
          <a:prstGeom prst="right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783080" y="1280160"/>
            <a:ext cx="1097280" cy="731520"/>
          </a:xfrm>
          <a:prstGeom prst="rect">
            <a:avLst/>
          </a:prstGeom>
          <a:solidFill>
            <a:srgbClr val="BDD7EE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3‑Channel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48×48×3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508760"/>
            <a:ext cx="228600" cy="274320"/>
          </a:xfrm>
          <a:prstGeom prst="right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108960" y="1280160"/>
            <a:ext cx="2286000" cy="731520"/>
          </a:xfrm>
          <a:prstGeom prst="rect">
            <a:avLst/>
          </a:prstGeom>
          <a:solidFill>
            <a:srgbClr val="9DC3E6"/>
          </a:solidFill>
          <a:ln w="12700">
            <a:solidFill>
              <a:srgbClr val="A5A5A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108960" y="1280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ResNet50 Backbone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94960" y="1508760"/>
            <a:ext cx="228600" cy="274320"/>
          </a:xfrm>
          <a:prstGeom prst="right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623560" y="1280160"/>
            <a:ext cx="1188720" cy="731520"/>
          </a:xfrm>
          <a:prstGeom prst="rect">
            <a:avLst/>
          </a:prstGeom>
          <a:solidFill>
            <a:srgbClr val="A5A5A5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3560" y="128016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Dense layers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+ Dropout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12280" y="1508760"/>
            <a:ext cx="228600" cy="274320"/>
          </a:xfrm>
          <a:prstGeom prst="right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40880" y="1280160"/>
            <a:ext cx="1097280" cy="731520"/>
          </a:xfrm>
          <a:prstGeom prst="rect">
            <a:avLst/>
          </a:prstGeom>
          <a:solidFill>
            <a:srgbClr val="203864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40880" y="1280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Softmax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6 classes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ResNet50 backbone leveraged for feature extraction; custom dense head with dropout reduces overfitting.
</a:t>
            </a:r>
            <a:r>
              <a:rPr lang="en-US" sz="1000" dirty="0">
                <a:solidFill>
                  <a:srgbClr val="203864"/>
                </a:solidFill>
              </a:rPr>
              <a:t>Grayscale images duplicated to RGB to match pretrained weights.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Alternative Approaches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686800" cy="182880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Classical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SVM, HOG features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~40‑50% 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Scratch CNN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Small CNN trained from scratch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~60% 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Transfer learning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ResNet50 with fine‑tuning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70‑80% accuracy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Synthetic aug.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Diffusion‑generated data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3864"/>
                          </a:solidFill>
                        </a:rPr>
                        <a:t>Further boosts minority 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864"/>
                </a:solidFill>
              </a:rPr>
              <a:t>Transfer learning and synthetic augmentation yield the highest performance and robust generalization.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[8]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4"/>
              </a:rPr>
              <a:t>[9]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Model Development &amp; Performance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97280"/>
          <a:ext cx="45720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2801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After augmenting to ~83k images and fine‑tuning in two phases:
</a:t>
            </a:r>
            <a:r>
              <a:rPr lang="en-US" sz="1100" dirty="0">
                <a:solidFill>
                  <a:srgbClr val="203864"/>
                </a:solidFill>
              </a:rPr>
              <a:t>• Macro F1 score ≈ 0.813
• Stable convergence and minimal overfitting
• Minority classes see significant recall improvements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4"/>
              </a:rPr>
              <a:t>[10]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Optimisation &amp; Hyperparameters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94360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SGD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Stable convergence, simple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Sensitive to learning rate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AdaGrad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Adaptive step sizes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Learning rate decays too much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RMSProp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Handles non-stationary targets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Requires tuning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Adam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Combines advantages of AdaGrad and RMSProp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3864"/>
                          </a:solidFill>
                        </a:rPr>
                        <a:t>Can overshoot minima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0" y="12801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Learning rate: backbone 1e‑4, head 1e‑3
</a:t>
            </a:r>
            <a:r>
              <a:rPr lang="en-US" sz="1200" dirty="0">
                <a:solidFill>
                  <a:srgbClr val="203864"/>
                </a:solidFill>
              </a:rPr>
              <a:t>Batch size: 32
Momentum &amp; weight decay tuned via experimentation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[11]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Mobile Application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3864"/>
                </a:solidFill>
              </a:rPr>
              <a:t>Real‑time Detection
</a:t>
            </a:r>
            <a:r>
              <a:rPr lang="en-US" sz="900" dirty="0">
                <a:solidFill>
                  <a:srgbClr val="203864"/>
                </a:solidFill>
              </a:rPr>
              <a:t>Camera feed with face detection and on‑device ONNX inference (~15–20 FPS)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1887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8328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3864"/>
                </a:solidFill>
              </a:rPr>
              <a:t>Photo Analysis
</a:t>
            </a:r>
            <a:r>
              <a:rPr lang="en-US" sz="900" dirty="0">
                <a:solidFill>
                  <a:srgbClr val="203864"/>
                </a:solidFill>
              </a:rPr>
              <a:t>Upload a photo to classify emotion instantly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1887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6072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3864"/>
                </a:solidFill>
              </a:rPr>
              <a:t>Image Generation
</a:t>
            </a:r>
            <a:r>
              <a:rPr lang="en-US" sz="900" dirty="0">
                <a:solidFill>
                  <a:srgbClr val="203864"/>
                </a:solidFill>
              </a:rPr>
              <a:t>Diffusion model generates expressive faces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1887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3816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3864"/>
                </a:solidFill>
              </a:rPr>
              <a:t>XAI Overlay
</a:t>
            </a:r>
            <a:r>
              <a:rPr lang="en-US" sz="900" dirty="0">
                <a:solidFill>
                  <a:srgbClr val="203864"/>
                </a:solidFill>
              </a:rPr>
              <a:t>Grad‑CAM &amp; SHAP heatmaps build user trust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457200" y="246888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Flutter front‑end integrates with ONNX or remote FastAPI server.
</a:t>
            </a:r>
            <a:r>
              <a:rPr lang="en-US" sz="1000" dirty="0">
                <a:solidFill>
                  <a:srgbClr val="203864"/>
                </a:solidFill>
              </a:rPr>
              <a:t>Modular tabs allow detection, analysis and generation; includes intuitive UI.
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[12]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8"/>
              </a:rPr>
              <a:t>[13]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Testing &amp; Validation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Goal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Validate individual functions &amp; data pipelines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Widget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Ensure UI elements behave correctly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Test interactions between components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Measure FPS &amp; inference latency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 Acceptance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Gather feedback from real users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Cross‑platform testing across Android, iOS &amp; web.
</a:t>
            </a:r>
            <a:r>
              <a:rPr lang="en-US" sz="1000" dirty="0">
                <a:solidFill>
                  <a:srgbClr val="203864"/>
                </a:solidFill>
              </a:rPr>
              <a:t>Continuous integration ensures stability at each development stage.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[14]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Explainable AI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1828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Technique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Pros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Grad‑CAM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Highlights important regions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Low resolution &amp; biased to last layers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Grad‑CAM++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Better localization than Grad‑CAM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Higher computational cost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Model‑agnostic &amp; interpretable locally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Sensitive to perturbations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Consistent feature importance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Expensive for deep models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3864"/>
                </a:solidFill>
              </a:rPr>
              <a:t>Interactive overlay allows users to toggle explanations and compare methods.
</a:t>
            </a:r>
            <a:r>
              <a:rPr lang="en-US" sz="1000" dirty="0">
                <a:solidFill>
                  <a:srgbClr val="203864"/>
                </a:solidFill>
              </a:rPr>
              <a:t>Enhances transparency and trust in emotion predictions.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[15]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3"/>
              </a:rPr>
              <a:t>[16]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Generative AI &amp; Transformers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88720"/>
            <a:ext cx="32004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71600"/>
            <a:ext cx="274320" cy="274320"/>
          </a:xfrm>
          <a:prstGeom prst="ellipse">
            <a:avLst/>
          </a:prstGeom>
          <a:solidFill>
            <a:srgbClr val="9DC3E6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A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1005840" y="1371600"/>
            <a:ext cx="274320" cy="274320"/>
          </a:xfrm>
          <a:prstGeom prst="ellipse">
            <a:avLst/>
          </a:prstGeom>
          <a:solidFill>
            <a:srgbClr val="9DC3E6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0058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B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554480" y="1371600"/>
            <a:ext cx="274320" cy="274320"/>
          </a:xfrm>
          <a:prstGeom prst="ellipse">
            <a:avLst/>
          </a:prstGeom>
          <a:solidFill>
            <a:srgbClr val="9DC3E6"/>
          </a:solidFill>
          <a:ln w="12700">
            <a:solidFill>
              <a:srgbClr val="20386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55448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03864"/>
                </a:solidFill>
              </a:rPr>
              <a:t>C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31520" y="2011680"/>
            <a:ext cx="365760" cy="365760"/>
          </a:xfrm>
          <a:prstGeom prst="down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1280160" y="2011680"/>
            <a:ext cx="365760" cy="365760"/>
          </a:xfrm>
          <a:prstGeom prst="downArrow">
            <a:avLst/>
          </a:prstGeom>
          <a:solidFill>
            <a:srgbClr val="2038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57200" y="22860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Self‑Attention &amp; Multi‑Head Attention:
</a:t>
            </a:r>
            <a:r>
              <a:rPr lang="en-US" sz="900" dirty="0">
                <a:solidFill>
                  <a:srgbClr val="203864"/>
                </a:solidFill>
              </a:rPr>
              <a:t>Tokens attend to every other token with learned weights. Multi‑head attention runs several attention mechanisms in parallel to capture diverse relationships.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203864"/>
                </a:solidFill>
              </a:rPr>
              <a:t>Diffusion models generate ~2,634 images to augment minority classes.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[17]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5"/>
              </a:rPr>
              <a:t>[18]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Generative vs Traditional Models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6868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Data Dependency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Requires labeled data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Uses unsupervised / self-supervised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Expressive Power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Limited to training distribution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Can generate novel examples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Compute Needs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Moderate GPU for inference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High compute during training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Interpretability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Relatively straightforward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Less interpretable, needs XAI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Safety &amp; Ethics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Lower risk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3864"/>
                          </a:solidFill>
                        </a:rPr>
                        <a:t>Misuse risk &amp; biases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03864"/>
                </a:solidFill>
              </a:rPr>
              <a:t>Generative methods complement discriminative neural networks by enriching data, enabling cross‑modal tasks and fostering creativity.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3"/>
              </a:rPr>
              <a:t>[19]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4"/>
              </a:rPr>
              <a:t>[20]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864"/>
                </a:solidFill>
              </a:rPr>
              <a:t>Conclusion &amp; Impact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A robust real‑time emotion classifier built on transfer learning achieves macro F1 ≈ 0.813.
</a:t>
            </a:r>
            <a:r>
              <a:rPr lang="en-US" sz="1000" dirty="0">
                <a:solidFill>
                  <a:srgbClr val="203864"/>
                </a:solidFill>
              </a:rPr>
              <a:t>Open‑source Flutter app enables accessible emotion recognition and explainability on mobile devices.
Generative augmentation and XAI techniques improve minority class recall and build user trust.
</a:t>
            </a:r>
            <a:r>
              <a:rPr lang="en-US" sz="1000" i="1" dirty="0">
                <a:solidFill>
                  <a:srgbClr val="203864"/>
                </a:solidFill>
              </a:rPr>
              <a:t>Future work: cross‑modal emotion recognition, personalised feedback systems, ethical considerations.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0070C0"/>
                </a:solidFill>
                <a:hlinkClick r:id="rId4"/>
              </a:rPr>
              <a:t>[21]</a:t>
            </a:r>
            <a:r>
              <a:rPr lang="en-US" sz="700" dirty="0">
                <a:solidFill>
                  <a:srgbClr val="000000"/>
                </a:solidFill>
              </a:rPr>
              <a:t> </a:t>
            </a:r>
            <a:r>
              <a:rPr lang="en-US" sz="700" u="sng" dirty="0">
                <a:solidFill>
                  <a:srgbClr val="0070C0"/>
                </a:solidFill>
                <a:hlinkClick r:id="rId5"/>
              </a:rPr>
              <a:t>[22]</a:t>
            </a:r>
            <a:endParaRPr lang="en-US" sz="7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{9DE24064-28A9-E147-9950-FBECCCC5B892}tf10001122</Template>
  <TotalTime>1</TotalTime>
  <Words>849</Words>
  <Application>Microsoft Macintosh PowerPoint</Application>
  <PresentationFormat>Custom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Lahiru Munasinghe</cp:lastModifiedBy>
  <cp:revision>3</cp:revision>
  <dcterms:created xsi:type="dcterms:W3CDTF">2025-10-14T06:01:26Z</dcterms:created>
  <dcterms:modified xsi:type="dcterms:W3CDTF">2025-10-14T06:24:32Z</dcterms:modified>
</cp:coreProperties>
</file>