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214" d="100"/>
          <a:sy n="214" d="100"/>
        </p:scale>
        <p:origin x="5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Dataset Size</c:v>
                </c:pt>
              </c:strCache>
            </c:strRef>
          </c:tx>
          <c:spPr>
            <a:solidFill>
              <a:srgbClr val="0072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Original</c:v>
                </c:pt>
                <c:pt idx="1">
                  <c:v>Augmented</c:v>
                </c:pt>
                <c:pt idx="2">
                  <c:v>Combined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43756</c:v>
                </c:pt>
                <c:pt idx="1">
                  <c:v>80370</c:v>
                </c:pt>
                <c:pt idx="2">
                  <c:v>83004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45-C349-AF4E-A9CF557C5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 count</c:v>
                </c:pt>
              </c:strCache>
            </c:strRef>
          </c:tx>
          <c:spPr>
            <a:solidFill>
              <a:srgbClr val="009A6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Original</c:v>
                </c:pt>
                <c:pt idx="1">
                  <c:v>Augmented</c:v>
                </c:pt>
                <c:pt idx="2">
                  <c:v>+ Synthetic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43756</c:v>
                </c:pt>
                <c:pt idx="1">
                  <c:v>80370</c:v>
                </c:pt>
                <c:pt idx="2">
                  <c:v>83004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0B-1C48-899A-71F7FFE8C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674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430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9290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368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4621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1366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0959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318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83142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70578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9239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2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01735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09837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2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308814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8385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5856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48547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208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9/30/25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11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README.md#:~:text=End%E2%80%91to%E2%80%91end%20system%20for%20building%2C%20extending%2C,mobile%20via%20Flutter%20%2B%20ONN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hyperlink" Target="file:///home/oai/share/README.md#:~:text=,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README.md#:~:text=Key%20techniques%3A%20,Hugging%20Face%20publishing%20pipeline%20automa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hyperlink" Target="file:///home/oai/share/model_design.md#:~:text=,limit%20semantic%20mixing%20complexity" TargetMode="External"/><Relationship Id="rId4" Type="http://schemas.openxmlformats.org/officeDocument/2006/relationships/hyperlink" Target="file:///home/oai/share/model_design.md#:~:text=,while%20preserving%20general%20representation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hyperlink" Target="file:///home/oai/share/README.md#:~:text=,Control%20distributional%20drif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README.md#:~:text=,Local%20explanation%20for%20misclassification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file:///home/oai/share/model_design.md#:~:text=,a%20few%20test%20sampl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README.md#:~:text=,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README.md#:~:text=,Shared%20inference%20forma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&#12304;222777380711657&#8224;L193-L198&#12305;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model_design.md#:~:text=,attention%20interpretability%20%28optional%2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README.md#:~:text=,Control%20distributional%20drif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le:///home/oai/share/README.md#:~:text=,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hyperlink" Target="file:///home/oai/share/README.md#:~:text=,Control%20distributional%20drif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f002454a-1431-488e-8cdb-4db73360c1a0.png"/>
          <p:cNvPicPr>
            <a:picLocks noChangeAspect="1"/>
          </p:cNvPicPr>
          <p:nvPr/>
        </p:nvPicPr>
        <p:blipFill>
          <a:blip/>
          <a:srcRect l="5556" r="5556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30A18"/>
                </a:solidFill>
              </a:rPr>
              <a:t>Emotion Recognition &amp; Generative AI
</a:t>
            </a:r>
            <a:r>
              <a:rPr lang="en-US" sz="1600" dirty="0">
                <a:solidFill>
                  <a:srgbClr val="030A18"/>
                </a:solidFill>
              </a:rPr>
              <a:t>An End‑to‑End ANN Platform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365760" y="40462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0A18"/>
                </a:solidFill>
              </a:rPr>
              <a:t>29 Sep 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4572" y="777240"/>
            <a:ext cx="4572000" cy="1843051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30A18"/>
                </a:solidFill>
              </a:rPr>
              <a:t>• Dataset &amp; Augmentation
• Model Design &amp; Training
• Synthetic Generation &amp; GenAI
• Explainability &amp; XAI
• Mobile App Implementation
• LLMs &amp; Transformer Theory
• Pros, Cons &amp; Opportunities
• Conclusion &amp; Future 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3"/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Augmentation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374810"/>
              </p:ext>
            </p:extLst>
          </p:nvPr>
        </p:nvGraphicFramePr>
        <p:xfrm>
          <a:off x="356260" y="800100"/>
          <a:ext cx="3840480" cy="19202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30A18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30A18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30A18"/>
                          </a:solidFill>
                        </a:rPr>
                        <a:t>Percent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angry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5 089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11.63%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fearful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4 589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10.49%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happy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13 370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30.56%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neutral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8 268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18.90%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sad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7 504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17.15%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surprised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4 936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11.28%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488521645"/>
              </p:ext>
            </p:extLst>
          </p:nvPr>
        </p:nvGraphicFramePr>
        <p:xfrm>
          <a:off x="4286992" y="1827613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4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Design &amp; Training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56260" y="834834"/>
            <a:ext cx="4453246" cy="1083031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Pretrained ResNet50 backbone with custom head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Two‑stage fine‑tuning: head warm‑up → full unfreeze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Discriminative LRs, mixed precision &amp; gradient clipping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Regularisation: label smoothing, MixUp, class weights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Hyperparams: img_size=224, batch_size=32, epochs=80</a:t>
            </a:r>
            <a:endParaRPr lang="en-US" sz="1200" dirty="0"/>
          </a:p>
        </p:txBody>
      </p:sp>
      <p:pic>
        <p:nvPicPr>
          <p:cNvPr id="4" name="Image 0" descr="/home/oai/share/training_curves.jpe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6260" y="2787886"/>
            <a:ext cx="6082238" cy="20036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3"/>
              </a:rPr>
              <a:t>[3]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66CC"/>
                </a:solidFill>
                <a:hlinkClick r:id="rId4"/>
              </a:rPr>
              <a:t>[4]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66CC"/>
                </a:solidFill>
                <a:hlinkClick r:id="rId5"/>
              </a:rPr>
              <a:t>[5]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Generation &amp; GenAI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74072" y="822960"/>
            <a:ext cx="4389120" cy="118397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Stable Diffusion (v1.5) for class expansion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Prompt templating to control expressions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Quality filters: single face detection, blur variance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Perceptual hash deduplication &amp; fraction capping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Added 2 634 synthetic images → total 83 004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833834658"/>
              </p:ext>
            </p:extLst>
          </p:nvPr>
        </p:nvGraphicFramePr>
        <p:xfrm>
          <a:off x="496389" y="2006930"/>
          <a:ext cx="3975264" cy="27826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4"/>
              </a:rPr>
              <a:t>[6]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&amp; XAI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855766"/>
            <a:ext cx="4389120" cy="830531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Grad‑CAM: spatial saliency on final conv block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Grad‑CAM++: refined localisation for multiple regions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SHAP: additive feature attribution (global &amp; local)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LIME: local surrogate models for misclassifications</a:t>
            </a:r>
            <a:endParaRPr lang="en-US" sz="1200" dirty="0"/>
          </a:p>
        </p:txBody>
      </p:sp>
      <p:pic>
        <p:nvPicPr>
          <p:cNvPr id="4" name="Image 0" descr="/home/oai/share/ff788ed1-0737-4b8b-a1a0-25d5746a5739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4320" y="1820152"/>
            <a:ext cx="2234342" cy="22343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3"/>
              </a:rPr>
              <a:t>[7]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66CC"/>
                </a:solidFill>
                <a:hlinkClick r:id="rId4"/>
              </a:rPr>
              <a:t>[8]</a:t>
            </a:r>
            <a:endParaRPr lang="en-US" sz="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C16A1A-4FB5-8807-3E64-ABDFA8549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924" y="525780"/>
            <a:ext cx="1903263" cy="4118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EAA870-12C8-EB9A-2752-350C2D6C5B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391" y="525780"/>
            <a:ext cx="1889179" cy="40883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49085"/>
            <a:ext cx="4206240" cy="87877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Validation accuracy: 81.3%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Macro F1‑score: 0.813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Highest F1: happy (0.919); lowest: angry (0.796)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Balanced performance across classes</a:t>
            </a:r>
            <a:endParaRPr lang="en-US" sz="1200" dirty="0"/>
          </a:p>
        </p:txBody>
      </p:sp>
      <p:pic>
        <p:nvPicPr>
          <p:cNvPr id="4" name="Image 0" descr="/home/oai/share/confusion_matrix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5741" y="1828402"/>
            <a:ext cx="3049702" cy="31744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3"/>
              </a:rPr>
              <a:t>[9]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4020" y="911351"/>
            <a:ext cx="3767029" cy="1006514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Device camera → ONNX inference on device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API fallback via HF_API_URL for remote inference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Real‑time detection with start/stop control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Gallery mode for analysing photos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Confidence bars and explanatory overlays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3"/>
              </a:rPr>
              <a:t>[10]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66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[11]</a:t>
            </a:r>
            <a:endParaRPr lang="en-US" sz="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F32C26-40A9-CFD2-A413-70753774F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301" y="777240"/>
            <a:ext cx="1562440" cy="33812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B44C86-D85D-FB31-D9C5-DE451951D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1984" y="777240"/>
            <a:ext cx="1562441" cy="33812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&amp; Transformer Theory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14696" y="855023"/>
            <a:ext cx="4572000" cy="920338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Self‑attention replaces recurrence to model global context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Multi‑head attention captures diverse relational patterns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Feed‑forward layers and residual connections stabilise training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Pretraining on massive corpora → fine‑tuning via prompts</a:t>
            </a:r>
            <a:endParaRPr lang="en-US" sz="1200" dirty="0"/>
          </a:p>
        </p:txBody>
      </p:sp>
      <p:pic>
        <p:nvPicPr>
          <p:cNvPr id="4" name="Image 0" descr="/home/oai/share/d9258b3f-8f38-4197-91e6-caf6ea5c2481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7759" y="1821675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3"/>
              </a:rPr>
              <a:t>[12]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vs Traditional Models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6466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30A18"/>
                          </a:solidFill>
                        </a:rPr>
                        <a:t>Aspect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30A18"/>
                          </a:solidFill>
                        </a:rPr>
                        <a:t>Generative/LLM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30A18"/>
                          </a:solidFill>
                        </a:rPr>
                        <a:t>Traditional NN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Data dependency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Pretrained on massive corpora; few‑shot generalisation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Requires task‑specific labelled data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Expressive power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Captures long‑range dependencies; multimodal generation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Specialised for vision or sequential data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Compute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High resource demands at training &amp; inference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More efficient on edge devices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Interpretability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Attention weights &amp; prompts; risk of hallucination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XAI techniques such as Grad‑CAM, SHAP, LIME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Safety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Outputs may contain biases; prompt‐sensitive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30A18"/>
                          </a:solidFill>
                        </a:rPr>
                        <a:t>Deterministic but still inherits dataset biases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3"/>
              </a:rPr>
              <a:t>[13]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5948" y="881149"/>
            <a:ext cx="4554187" cy="121484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Expanded dataset to 83 004 images; macro F1 ≈ 0.813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Progressive fine‑tuning and regularisation improved generalisation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GenAI pipeline boosted data diversity via diffusion models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Explainability via Grad‑CAM, SHAP &amp; LIME enhances trust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Flutter app delivers real‑time emotion detection on device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Future: quantised ONNX for latency, fairness audits, multimodal LLMs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48234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u="sng" dirty="0">
                <a:solidFill>
                  <a:srgbClr val="0066CC"/>
                </a:solidFill>
                <a:hlinkClick r:id="rId3"/>
              </a:rPr>
              <a:t>[14]</a:t>
            </a:r>
            <a:r>
              <a:rPr lang="en-US" sz="600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0066CC"/>
                </a:solidFill>
                <a:hlinkClick r:id="rId4"/>
              </a:rPr>
              <a:t>[15]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{C7A06482-B8A3-D44D-9431-4B13A00D17A4}tf10001060</Template>
  <TotalTime>7</TotalTime>
  <Words>550</Words>
  <Application>Microsoft Macintosh PowerPoint</Application>
  <PresentationFormat>On-screen Show (16:9)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Lahiru Munasinghe</cp:lastModifiedBy>
  <cp:revision>2</cp:revision>
  <dcterms:created xsi:type="dcterms:W3CDTF">2025-09-29T18:29:34Z</dcterms:created>
  <dcterms:modified xsi:type="dcterms:W3CDTF">2025-09-29T18:40:07Z</dcterms:modified>
</cp:coreProperties>
</file>